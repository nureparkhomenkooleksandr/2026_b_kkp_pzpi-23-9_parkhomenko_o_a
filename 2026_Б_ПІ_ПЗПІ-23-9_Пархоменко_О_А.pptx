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0ECE5-4378-4B05-9088-A7E099A7561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CF893-D695-45B9-AA6A-EE8076569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38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CF893-D695-45B9-AA6A-EE807656964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27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;p2"/>
          <p:cNvSpPr/>
          <p:nvPr/>
        </p:nvSpPr>
        <p:spPr>
          <a:xfrm>
            <a:off x="2743920" y="756720"/>
            <a:ext cx="1081440" cy="1124640"/>
          </a:xfrm>
          <a:custGeom>
            <a:avLst/>
            <a:gdLst>
              <a:gd name="textAreaLeft" fmla="*/ 0 w 1081440"/>
              <a:gd name="textAreaRight" fmla="*/ 1081800 w 1081440"/>
              <a:gd name="textAreaTop" fmla="*/ 0 h 1124640"/>
              <a:gd name="textAreaBottom" fmla="*/ 1125000 h 1124640"/>
            </a:gdLst>
            <a:ahLst/>
            <a:cxnLst/>
            <a:rect l="textAreaLeft" t="textAreaTop" r="textAreaRight" b="textAreaBottom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>
            <a:solidFill>
              <a:srgbClr val="CCA67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Google Shape;11;p2"/>
          <p:cNvSpPr/>
          <p:nvPr/>
        </p:nvSpPr>
        <p:spPr>
          <a:xfrm rot="10800000">
            <a:off x="5318640" y="3267000"/>
            <a:ext cx="1081440" cy="1124640"/>
          </a:xfrm>
          <a:custGeom>
            <a:avLst/>
            <a:gdLst>
              <a:gd name="textAreaLeft" fmla="*/ 0 w 1081440"/>
              <a:gd name="textAreaRight" fmla="*/ 1081800 w 1081440"/>
              <a:gd name="textAreaTop" fmla="*/ 0 h 1124640"/>
              <a:gd name="textAreaBottom" fmla="*/ 1125000 h 1124640"/>
            </a:gdLst>
            <a:ahLst/>
            <a:cxnLst/>
            <a:rect l="textAreaLeft" t="textAreaTop" r="textAreaRight" b="textAreaBottom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>
            <a:solidFill>
              <a:srgbClr val="CCA67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044880" y="1444320"/>
            <a:ext cx="3054240" cy="1536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42FCB30-FB04-4B8D-9917-607E9BADFBD2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2;p11"/>
          <p:cNvSpPr/>
          <p:nvPr/>
        </p:nvSpPr>
        <p:spPr>
          <a:xfrm>
            <a:off x="0" y="5045760"/>
            <a:ext cx="9143640" cy="97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8960" bIns="489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11760" y="957240"/>
            <a:ext cx="8520120" cy="212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2500" lnSpcReduction="19999"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16000" b="0" u="none" strike="noStrike">
                <a:solidFill>
                  <a:schemeClr val="lt2"/>
                </a:solidFill>
                <a:effectLst/>
                <a:uFillTx/>
                <a:latin typeface="Economica"/>
                <a:ea typeface="Economica"/>
              </a:rPr>
              <a:t>xx%</a:t>
            </a:r>
            <a:endParaRPr lang="en-US" sz="1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11760" y="3161880"/>
            <a:ext cx="8520120" cy="1071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 algn="ctr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12EA3FB-74CA-499B-B670-607F13EB55C1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A8B8406-4766-48BD-83F6-AE51DA46E040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6;p3"/>
          <p:cNvSpPr/>
          <p:nvPr/>
        </p:nvSpPr>
        <p:spPr>
          <a:xfrm flipH="1">
            <a:off x="7596000" y="460080"/>
            <a:ext cx="1081440" cy="1124640"/>
          </a:xfrm>
          <a:custGeom>
            <a:avLst/>
            <a:gdLst>
              <a:gd name="textAreaLeft" fmla="*/ 360 w 1081440"/>
              <a:gd name="textAreaRight" fmla="*/ 1082160 w 1081440"/>
              <a:gd name="textAreaTop" fmla="*/ 0 h 1124640"/>
              <a:gd name="textAreaBottom" fmla="*/ 1125000 h 1124640"/>
            </a:gdLst>
            <a:ahLst/>
            <a:cxnLst/>
            <a:rect l="textAreaLeft" t="textAreaTop" r="textAreaRight" b="textAreaBottom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>
            <a:solidFill>
              <a:srgbClr val="CCA67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Google Shape;17;p3"/>
          <p:cNvSpPr/>
          <p:nvPr/>
        </p:nvSpPr>
        <p:spPr>
          <a:xfrm rot="10800000" flipH="1">
            <a:off x="466560" y="3558600"/>
            <a:ext cx="1081440" cy="1124640"/>
          </a:xfrm>
          <a:custGeom>
            <a:avLst/>
            <a:gdLst>
              <a:gd name="textAreaLeft" fmla="*/ 360 w 1081440"/>
              <a:gd name="textAreaRight" fmla="*/ 1082160 w 1081440"/>
              <a:gd name="textAreaTop" fmla="*/ 0 h 1124640"/>
              <a:gd name="textAreaBottom" fmla="*/ 1125000 h 1124640"/>
            </a:gdLst>
            <a:ahLst/>
            <a:cxnLst/>
            <a:rect l="textAreaLeft" t="textAreaTop" r="textAreaRight" b="textAreaBottom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>
            <a:solidFill>
              <a:srgbClr val="CCA67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73640" y="1806480"/>
            <a:ext cx="7596360" cy="153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9108658-003E-4654-8676-1696916DDE7D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1;p4"/>
          <p:cNvSpPr/>
          <p:nvPr/>
        </p:nvSpPr>
        <p:spPr>
          <a:xfrm>
            <a:off x="0" y="5045760"/>
            <a:ext cx="9143640" cy="97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8960" bIns="489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316080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1760" y="1225080"/>
            <a:ext cx="8520120" cy="335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571CFBD-EE47-4742-9C1D-4EDE8EF5244C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316080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11760" y="1225080"/>
            <a:ext cx="3999600" cy="335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832280" y="1225080"/>
            <a:ext cx="3999600" cy="335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426BA30-7028-467E-8B53-C2026B137A5A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316080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BEFBF70-2280-4C49-BDBD-04E69BCAED29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77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ru-RU" sz="3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11760" y="1399320"/>
            <a:ext cx="2807640" cy="278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7F722DA-F888-48DE-9D23-5E2A6AAB89AD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38;p8"/>
          <p:cNvSpPr/>
          <p:nvPr/>
        </p:nvSpPr>
        <p:spPr>
          <a:xfrm>
            <a:off x="0" y="5045760"/>
            <a:ext cx="9143640" cy="97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8960" bIns="489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587844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90EBF79-F3B5-47A3-A973-B568F6FEFC18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42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31" name="Google Shape;43;p9"/>
          <p:cNvCxnSpPr/>
          <p:nvPr/>
        </p:nvCxnSpPr>
        <p:spPr>
          <a:xfrm>
            <a:off x="5029560" y="4495320"/>
            <a:ext cx="468720" cy="36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65680" y="929160"/>
            <a:ext cx="4044960" cy="1785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4200" b="0" u="none" strike="noStrike">
                <a:solidFill>
                  <a:schemeClr val="lt2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939560" y="72432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marL="457200" indent="-343080">
              <a:lnSpc>
                <a:spcPct val="115000"/>
              </a:lnSpc>
              <a:buClr>
                <a:srgbClr val="FFFFFF"/>
              </a:buClr>
              <a:buFont typeface="Open Sans"/>
              <a:buChar char="●"/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lt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CE460E3-9D25-4FA1-BABC-346D2D72011D}" type="slidenum">
              <a:rPr lang="uk" sz="1000" b="0" u="none" strike="noStrike">
                <a:solidFill>
                  <a:schemeClr val="lt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body"/>
          </p:nvPr>
        </p:nvSpPr>
        <p:spPr>
          <a:xfrm>
            <a:off x="319680" y="4218840"/>
            <a:ext cx="5998320" cy="59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marL="457200" indent="-2286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текста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A527DD7-E5D9-424B-BBB6-D22E7BBCA9EC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853794" y="792480"/>
            <a:ext cx="3694176" cy="191719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noProof="1">
                <a:solidFill>
                  <a:srgbClr val="000000"/>
                </a:solidFill>
                <a:latin typeface="Arial"/>
              </a:rPr>
              <a:t>Програмна система для розміщення вакансій</a:t>
            </a:r>
            <a:endParaRPr lang="en-US" sz="24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600" b="0" noProof="1">
                <a:solidFill>
                  <a:srgbClr val="000000"/>
                </a:solidFill>
                <a:latin typeface="Arial"/>
              </a:rPr>
              <a:t>та пошуку роботи. Backend</a:t>
            </a:r>
          </a:p>
        </p:txBody>
      </p:sp>
      <p:pic>
        <p:nvPicPr>
          <p:cNvPr id="39" name="Google Shape;64;p13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Google Shape;65;p13"/>
          <p:cNvPicPr/>
          <p:nvPr/>
        </p:nvPicPr>
        <p:blipFill>
          <a:blip r:embed="rId3"/>
          <a:stretch/>
        </p:blipFill>
        <p:spPr>
          <a:xfrm>
            <a:off x="204840" y="171000"/>
            <a:ext cx="2133720" cy="38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Google Shape;66;p13"/>
          <p:cNvPicPr/>
          <p:nvPr/>
        </p:nvPicPr>
        <p:blipFill>
          <a:blip r:embed="rId4"/>
          <a:stretch/>
        </p:blipFill>
        <p:spPr>
          <a:xfrm>
            <a:off x="7068600" y="171000"/>
            <a:ext cx="1924560" cy="43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Google Shape;63;p13">
            <a:extLst>
              <a:ext uri="{FF2B5EF4-FFF2-40B4-BE49-F238E27FC236}">
                <a16:creationId xmlns:a16="http://schemas.microsoft.com/office/drawing/2014/main" id="{CC586F14-A141-B8F8-D1E0-821C93C6A3BD}"/>
              </a:ext>
            </a:extLst>
          </p:cNvPr>
          <p:cNvSpPr txBox="1">
            <a:spLocks/>
          </p:cNvSpPr>
          <p:nvPr/>
        </p:nvSpPr>
        <p:spPr>
          <a:xfrm>
            <a:off x="1460570" y="2981160"/>
            <a:ext cx="5087400" cy="15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Economica"/>
              <a:buNone/>
              <a:tabLst/>
              <a:defRPr/>
            </a:pPr>
            <a:endParaRPr kumimoji="0" lang="en-US" sz="21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Economic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Economica"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Economica"/>
              </a:rPr>
              <a:t>Виконав:      ст. гр. ПЗПІ-23-9 Пархоменко О. А.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Economica"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Economica"/>
              </a:rPr>
              <a:t>Керівник:      доц. кафедри ПІ Русакова. Н. В.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Economica"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Economica"/>
              </a:rPr>
              <a:t>01 червня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29184" y="164592"/>
            <a:ext cx="8321040" cy="8686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noProof="1">
                <a:solidFill>
                  <a:srgbClr val="000000"/>
                </a:solidFill>
                <a:latin typeface="Arial"/>
              </a:rPr>
              <a:t>Мета роботи</a:t>
            </a:r>
            <a:endParaRPr lang="en-US" sz="32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94360" y="1234440"/>
            <a:ext cx="7680960" cy="310896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t">
            <a:normAutofit fontScale="92500"/>
          </a:bodyPr>
          <a:lstStyle/>
          <a:p>
            <a:pPr marL="342900" indent="-342900">
              <a:lnSpc>
                <a:spcPct val="150000"/>
              </a:lnSpc>
              <a:spcBef>
                <a:spcPts val="1199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200" b="0" noProof="1">
                <a:solidFill>
                  <a:srgbClr val="000000"/>
                </a:solidFill>
                <a:latin typeface="Arial"/>
              </a:rPr>
              <a:t>розробити серверну частину веб-системи HiredIn для пошуку роботи та розміщення вакансій</a:t>
            </a:r>
            <a:endParaRPr lang="en-US" sz="18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0" noProof="1">
                <a:solidFill>
                  <a:srgbClr val="000000"/>
                </a:solidFill>
                <a:latin typeface="Arial"/>
              </a:rPr>
              <a:t>об’єднати основні дії кандидата й роботодавця в одному API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0" noProof="1">
                <a:solidFill>
                  <a:srgbClr val="000000"/>
                </a:solidFill>
                <a:latin typeface="Arial"/>
              </a:rPr>
              <a:t>забезпечити авторизацію, роботу з вакансіями, резюме, заявками, чатами та сповіщеннями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0" noProof="1">
                <a:solidFill>
                  <a:srgbClr val="000000"/>
                </a:solidFill>
                <a:latin typeface="Arial"/>
              </a:rPr>
              <a:t>додати рекомендації вакансій та допоміжні AI-функції</a:t>
            </a:r>
          </a:p>
        </p:txBody>
      </p:sp>
      <p:pic>
        <p:nvPicPr>
          <p:cNvPr id="44" name="Google Shape;73;p14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Box 1"/>
          <p:cNvSpPr/>
          <p:nvPr/>
        </p:nvSpPr>
        <p:spPr>
          <a:xfrm>
            <a:off x="8485632" y="4443984"/>
            <a:ext cx="411480" cy="2560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noProof="1">
                <a:solidFill>
                  <a:srgbClr val="000000"/>
                </a:solidFill>
                <a:latin typeface="Arial"/>
              </a:rPr>
              <a:t>2</a:t>
            </a:r>
            <a:endParaRPr lang="en-US" sz="14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29184" y="164592"/>
            <a:ext cx="8321040" cy="8686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b">
            <a:normAutofit fontScale="925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noProof="1">
                <a:solidFill>
                  <a:srgbClr val="000000"/>
                </a:solidFill>
                <a:latin typeface="Arial"/>
              </a:rPr>
              <a:t>Аналіз проблеми та існуючих рішень</a:t>
            </a:r>
            <a:endParaRPr lang="en-US" sz="32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2920" y="1143000"/>
            <a:ext cx="4023360" cy="32004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t">
            <a:normAutofit lnSpcReduction="10000"/>
          </a:bodyPr>
          <a:lstStyle/>
          <a:p>
            <a:pPr marL="285750" indent="-285750">
              <a:lnSpc>
                <a:spcPct val="150000"/>
              </a:lnSpc>
              <a:spcBef>
                <a:spcPts val="15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noProof="1">
                <a:solidFill>
                  <a:srgbClr val="000000"/>
                </a:solidFill>
                <a:latin typeface="Arial"/>
              </a:rPr>
              <a:t>проаналізовано Work.ua, robota.ua та LinkedIn</a:t>
            </a:r>
            <a:endParaRPr lang="en-US" sz="16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noProof="1">
                <a:solidFill>
                  <a:srgbClr val="000000"/>
                </a:solidFill>
                <a:latin typeface="Arial"/>
              </a:rPr>
              <a:t>основні функції аналогів: вакансії, резюме, заявки, профілі компаній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noProof="1">
                <a:solidFill>
                  <a:srgbClr val="000000"/>
                </a:solidFill>
                <a:latin typeface="Arial"/>
              </a:rPr>
              <a:t>типова проблема – багато окремих каналів для заявок, спілкування та відстеження статусу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noProof="1">
                <a:solidFill>
                  <a:srgbClr val="000000"/>
                </a:solidFill>
                <a:latin typeface="Arial"/>
              </a:rPr>
              <a:t>HiredIn орієнтовано на базові сценарії без перевантаження інтерфейсу</a:t>
            </a:r>
          </a:p>
        </p:txBody>
      </p:sp>
      <p:pic>
        <p:nvPicPr>
          <p:cNvPr id="48" name="Google Shape;80;p15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Box 1"/>
          <p:cNvSpPr/>
          <p:nvPr/>
        </p:nvSpPr>
        <p:spPr>
          <a:xfrm>
            <a:off x="8485632" y="4443984"/>
            <a:ext cx="411480" cy="2560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noProof="1">
                <a:solidFill>
                  <a:srgbClr val="000000"/>
                </a:solidFill>
                <a:latin typeface="Arial"/>
              </a:rPr>
              <a:t>3</a:t>
            </a:r>
            <a:endParaRPr lang="en-US" sz="14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Picture 49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287052"/>
            <a:ext cx="1371600" cy="726880"/>
          </a:xfrm>
          <a:prstGeom prst="rect">
            <a:avLst/>
          </a:prstGeom>
        </p:spPr>
      </p:pic>
      <p:pic>
        <p:nvPicPr>
          <p:cNvPr id="51" name="Picture 50" descr="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02378"/>
            <a:ext cx="1371600" cy="696227"/>
          </a:xfrm>
          <a:prstGeom prst="rect">
            <a:avLst/>
          </a:prstGeom>
        </p:spPr>
      </p:pic>
      <p:pic>
        <p:nvPicPr>
          <p:cNvPr id="52" name="Picture 51" descr="image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478962"/>
            <a:ext cx="2514600" cy="130571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709160" y="2121408"/>
            <a:ext cx="13716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lang="en-US" sz="1000" b="0" noProof="1">
                <a:solidFill>
                  <a:srgbClr val="464646"/>
                </a:solidFill>
                <a:latin typeface="Arial"/>
              </a:rPr>
              <a:t>Work.ua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2121408"/>
            <a:ext cx="13716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lang="en-US" sz="1000" b="0" noProof="1">
                <a:solidFill>
                  <a:srgbClr val="464646"/>
                </a:solidFill>
                <a:latin typeface="Arial"/>
              </a:rPr>
              <a:t>robota.ua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83480" y="3794760"/>
            <a:ext cx="25146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lang="en-US" sz="1000" b="0" noProof="1">
                <a:solidFill>
                  <a:srgbClr val="464646"/>
                </a:solidFill>
                <a:latin typeface="Arial"/>
              </a:rPr>
              <a:t>LinkedIn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29184" y="164592"/>
            <a:ext cx="8321040" cy="8686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noProof="1">
                <a:solidFill>
                  <a:srgbClr val="000000"/>
                </a:solidFill>
                <a:latin typeface="Arial"/>
              </a:rPr>
              <a:t>Постановка задачі та опис системи</a:t>
            </a:r>
            <a:endParaRPr lang="en-US" sz="32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94360" y="1188720"/>
            <a:ext cx="7772400" cy="310896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15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noProof="1">
                <a:solidFill>
                  <a:srgbClr val="000000"/>
                </a:solidFill>
                <a:latin typeface="Arial"/>
              </a:rPr>
              <a:t>реалізувати backend для платформи працевлаштування</a:t>
            </a:r>
            <a:endParaRPr lang="en-US" sz="18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noProof="1">
                <a:solidFill>
                  <a:srgbClr val="000000"/>
                </a:solidFill>
                <a:latin typeface="Arial"/>
              </a:rPr>
              <a:t>ролі системи: гість, кандидат, роботодавець, адміністратор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noProof="1">
                <a:solidFill>
                  <a:srgbClr val="000000"/>
                </a:solidFill>
                <a:latin typeface="Arial"/>
              </a:rPr>
              <a:t>кандидат: резюме, обрані вакансії, заявки, рекомендації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noProof="1">
                <a:solidFill>
                  <a:srgbClr val="000000"/>
                </a:solidFill>
                <a:latin typeface="Arial"/>
              </a:rPr>
              <a:t>роботодавець: компанія, вакансії, заявки кандидатів, чат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noProof="1">
                <a:solidFill>
                  <a:srgbClr val="000000"/>
                </a:solidFill>
                <a:latin typeface="Arial"/>
              </a:rPr>
              <a:t>адміністратор: модерація та статистика системи</a:t>
            </a:r>
          </a:p>
        </p:txBody>
      </p:sp>
      <p:pic>
        <p:nvPicPr>
          <p:cNvPr id="52" name="Google Shape;87;p16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Box 1"/>
          <p:cNvSpPr/>
          <p:nvPr/>
        </p:nvSpPr>
        <p:spPr>
          <a:xfrm>
            <a:off x="8485632" y="4443984"/>
            <a:ext cx="411480" cy="2560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noProof="1">
                <a:solidFill>
                  <a:srgbClr val="000000"/>
                </a:solidFill>
                <a:latin typeface="Arial"/>
              </a:rPr>
              <a:t>4</a:t>
            </a:r>
            <a:endParaRPr lang="en-US" sz="14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29184" y="164592"/>
            <a:ext cx="8321040" cy="8686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noProof="1">
                <a:solidFill>
                  <a:srgbClr val="000000"/>
                </a:solidFill>
                <a:latin typeface="Arial"/>
              </a:rPr>
              <a:t>Вибір технологій розробки</a:t>
            </a:r>
            <a:endParaRPr lang="en-US" sz="32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94360" y="1143000"/>
            <a:ext cx="7680960" cy="32004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t">
            <a:normAutofit fontScale="92500"/>
          </a:bodyPr>
          <a:lstStyle/>
          <a:p>
            <a:pPr marL="342900" indent="-342900">
              <a:lnSpc>
                <a:spcPct val="150000"/>
              </a:lnSpc>
              <a:spcBef>
                <a:spcPts val="15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noProof="1">
                <a:solidFill>
                  <a:srgbClr val="000000"/>
                </a:solidFill>
                <a:latin typeface="Arial"/>
              </a:rPr>
              <a:t>ASP.NET Core Web API та C# - основа серверної частини</a:t>
            </a:r>
            <a:endParaRPr lang="en-US" sz="18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noProof="1">
                <a:solidFill>
                  <a:srgbClr val="000000"/>
                </a:solidFill>
                <a:latin typeface="Arial"/>
              </a:rPr>
              <a:t>PostgreSQL + Entity Framework Core </a:t>
            </a:r>
            <a:r>
              <a:rPr lang="en-US" sz="2000" noProof="1">
                <a:solidFill>
                  <a:srgbClr val="000000"/>
                </a:solidFill>
              </a:rPr>
              <a:t>-</a:t>
            </a:r>
            <a:r>
              <a:rPr lang="en-US" sz="2000" b="0" noProof="1">
                <a:solidFill>
                  <a:srgbClr val="000000"/>
                </a:solidFill>
                <a:latin typeface="Arial"/>
              </a:rPr>
              <a:t> зберігання та доступ до даних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noProof="1">
                <a:solidFill>
                  <a:srgbClr val="000000"/>
                </a:solidFill>
                <a:latin typeface="Arial"/>
              </a:rPr>
              <a:t>Clean Architecture, CQRS, MediatR </a:t>
            </a:r>
            <a:r>
              <a:rPr lang="en-US" sz="2000" noProof="1">
                <a:solidFill>
                  <a:srgbClr val="000000"/>
                </a:solidFill>
              </a:rPr>
              <a:t>-</a:t>
            </a:r>
            <a:r>
              <a:rPr lang="en-US" sz="2000" b="0" noProof="1">
                <a:solidFill>
                  <a:srgbClr val="000000"/>
                </a:solidFill>
                <a:latin typeface="Arial"/>
              </a:rPr>
              <a:t> розділення відповідальності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noProof="1">
                <a:solidFill>
                  <a:srgbClr val="000000"/>
                </a:solidFill>
                <a:latin typeface="Arial"/>
              </a:rPr>
              <a:t>JWT </a:t>
            </a:r>
            <a:r>
              <a:rPr lang="en-US" sz="2000" noProof="1">
                <a:solidFill>
                  <a:srgbClr val="000000"/>
                </a:solidFill>
              </a:rPr>
              <a:t>-</a:t>
            </a:r>
            <a:r>
              <a:rPr lang="en-US" sz="2000" b="0" noProof="1">
                <a:solidFill>
                  <a:srgbClr val="000000"/>
                </a:solidFill>
                <a:latin typeface="Arial"/>
              </a:rPr>
              <a:t> захищений доступ до API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noProof="1">
                <a:solidFill>
                  <a:srgbClr val="000000"/>
                </a:solidFill>
                <a:latin typeface="Arial"/>
              </a:rPr>
              <a:t>SignalR, Supabase Storage, OpenAI API </a:t>
            </a:r>
            <a:r>
              <a:rPr lang="en-US" sz="2000" noProof="1">
                <a:solidFill>
                  <a:srgbClr val="000000"/>
                </a:solidFill>
              </a:rPr>
              <a:t>-</a:t>
            </a:r>
            <a:r>
              <a:rPr lang="en-US" sz="2000" b="0" noProof="1">
                <a:solidFill>
                  <a:srgbClr val="000000"/>
                </a:solidFill>
                <a:latin typeface="Arial"/>
              </a:rPr>
              <a:t> чат, файли та AI-функції</a:t>
            </a:r>
          </a:p>
        </p:txBody>
      </p:sp>
      <p:pic>
        <p:nvPicPr>
          <p:cNvPr id="56" name="Google Shape;94;p17"/>
          <p:cNvPicPr/>
          <p:nvPr/>
        </p:nvPicPr>
        <p:blipFill>
          <a:blip r:embed="rId3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Box 1"/>
          <p:cNvSpPr/>
          <p:nvPr/>
        </p:nvSpPr>
        <p:spPr>
          <a:xfrm>
            <a:off x="8485632" y="4443984"/>
            <a:ext cx="411480" cy="2560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noProof="1">
                <a:solidFill>
                  <a:srgbClr val="000000"/>
                </a:solidFill>
                <a:latin typeface="Arial"/>
              </a:rPr>
              <a:t>5</a:t>
            </a:r>
            <a:endParaRPr lang="en-US" sz="14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29184" y="164592"/>
            <a:ext cx="8321040" cy="8686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noProof="1">
                <a:solidFill>
                  <a:srgbClr val="000000"/>
                </a:solidFill>
                <a:latin typeface="Arial"/>
              </a:rPr>
              <a:t>Архітектура створеного програмного забезпечення</a:t>
            </a:r>
            <a:endParaRPr lang="en-US" sz="32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Google Shape;101;p18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Box 1"/>
          <p:cNvSpPr/>
          <p:nvPr/>
        </p:nvSpPr>
        <p:spPr>
          <a:xfrm>
            <a:off x="8485632" y="4443984"/>
            <a:ext cx="411480" cy="2560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noProof="1">
                <a:solidFill>
                  <a:srgbClr val="000000"/>
                </a:solidFill>
                <a:latin typeface="Arial"/>
              </a:rPr>
              <a:t>6</a:t>
            </a:r>
            <a:endParaRPr lang="en-US" sz="14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Picture 61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425881"/>
            <a:ext cx="8311896" cy="268154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39900" y="4212508"/>
            <a:ext cx="78638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lang="en-US" sz="1100" b="0" noProof="1">
                <a:solidFill>
                  <a:srgbClr val="464646"/>
                </a:solidFill>
                <a:latin typeface="Arial"/>
              </a:rPr>
              <a:t>Серверна частина розділена на API, Application, Domain, Contracts та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29184" y="164592"/>
            <a:ext cx="8321040" cy="8686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noProof="1">
                <a:solidFill>
                  <a:srgbClr val="000000"/>
                </a:solidFill>
                <a:latin typeface="Arial"/>
              </a:rPr>
              <a:t>Структура даних та основні сутності</a:t>
            </a:r>
            <a:endParaRPr lang="en-US" sz="32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502920" y="1143000"/>
            <a:ext cx="3246120" cy="310896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t">
            <a:normAutofit fontScale="85000" lnSpcReduction="10000"/>
          </a:bodyPr>
          <a:lstStyle/>
          <a:p>
            <a:pPr marL="285750" indent="-285750">
              <a:lnSpc>
                <a:spcPct val="150000"/>
              </a:lnSpc>
              <a:spcBef>
                <a:spcPts val="15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700" b="0" noProof="1">
                <a:solidFill>
                  <a:srgbClr val="000000"/>
                </a:solidFill>
                <a:latin typeface="Arial"/>
              </a:rPr>
              <a:t>користувачі, профілі кандидатів та компанії</a:t>
            </a:r>
            <a:endParaRPr lang="en-US" sz="18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0" noProof="1">
                <a:solidFill>
                  <a:srgbClr val="000000"/>
                </a:solidFill>
                <a:latin typeface="Arial"/>
              </a:rPr>
              <a:t>резюме, вакансії, навички та заявки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0" noProof="1">
                <a:solidFill>
                  <a:srgbClr val="000000"/>
                </a:solidFill>
                <a:latin typeface="Arial"/>
              </a:rPr>
              <a:t>чати, повідомлення, сповіщення та рейтинги компаній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0" noProof="1">
                <a:solidFill>
                  <a:srgbClr val="000000"/>
                </a:solidFill>
                <a:latin typeface="Arial"/>
              </a:rPr>
              <a:t>зв’язки багато-до-багатьох реалізовані через проміжні таблиці</a:t>
            </a:r>
          </a:p>
        </p:txBody>
      </p:sp>
      <p:pic>
        <p:nvPicPr>
          <p:cNvPr id="64" name="Google Shape;108;p19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Box 1"/>
          <p:cNvSpPr/>
          <p:nvPr/>
        </p:nvSpPr>
        <p:spPr>
          <a:xfrm>
            <a:off x="8485632" y="4443984"/>
            <a:ext cx="411480" cy="2560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noProof="1">
                <a:solidFill>
                  <a:srgbClr val="000000"/>
                </a:solidFill>
                <a:latin typeface="Arial"/>
              </a:rPr>
              <a:t>7</a:t>
            </a:r>
            <a:endParaRPr lang="en-US" sz="14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Picture 65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338" y="1241502"/>
            <a:ext cx="5310867" cy="32024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29184" y="164592"/>
            <a:ext cx="8321040" cy="8686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noProof="1">
                <a:solidFill>
                  <a:srgbClr val="000000"/>
                </a:solidFill>
                <a:latin typeface="Arial"/>
              </a:rPr>
              <a:t>Сценарій подання заявки</a:t>
            </a:r>
            <a:endParaRPr lang="en-US" sz="32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Google Shape;115;p20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Box 1"/>
          <p:cNvSpPr/>
          <p:nvPr/>
        </p:nvSpPr>
        <p:spPr>
          <a:xfrm>
            <a:off x="8485632" y="4443984"/>
            <a:ext cx="411480" cy="2560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noProof="1">
                <a:solidFill>
                  <a:srgbClr val="000000"/>
                </a:solidFill>
                <a:latin typeface="Arial"/>
              </a:rPr>
              <a:t>8</a:t>
            </a:r>
            <a:endParaRPr lang="en-US" sz="14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1645920" y="2331720"/>
            <a:ext cx="68580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154680" y="2331720"/>
            <a:ext cx="77724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754880" y="2331720"/>
            <a:ext cx="82296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400800" y="2331720"/>
            <a:ext cx="7315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731520" y="1856231"/>
            <a:ext cx="1005840" cy="9601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en-US" sz="1200" b="1" noProof="1">
                <a:solidFill>
                  <a:srgbClr val="000000"/>
                </a:solidFill>
                <a:latin typeface="Arial"/>
              </a:rPr>
              <a:t>POST</a:t>
            </a:r>
          </a:p>
          <a:p>
            <a:pPr algn="ctr"/>
            <a:r>
              <a:rPr lang="en-US" sz="1200" b="1" noProof="1">
                <a:solidFill>
                  <a:srgbClr val="000000"/>
                </a:solidFill>
                <a:latin typeface="Arial"/>
              </a:rPr>
              <a:t>заявка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240280" y="1856231"/>
            <a:ext cx="1005840" cy="9601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en-US" sz="1200" b="1" noProof="1">
                <a:solidFill>
                  <a:srgbClr val="000000"/>
                </a:solidFill>
                <a:latin typeface="Arial"/>
              </a:rPr>
              <a:t>MediatR</a:t>
            </a:r>
          </a:p>
          <a:p>
            <a:pPr algn="ctr"/>
            <a:r>
              <a:rPr lang="en-US" sz="1200" b="1" noProof="1">
                <a:solidFill>
                  <a:srgbClr val="000000"/>
                </a:solidFill>
                <a:latin typeface="Arial"/>
              </a:rPr>
              <a:t>команда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40480" y="1856231"/>
            <a:ext cx="1005840" cy="9601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en-US" sz="1200" b="1" noProof="1">
                <a:solidFill>
                  <a:srgbClr val="000000"/>
                </a:solidFill>
                <a:latin typeface="Arial"/>
              </a:rPr>
              <a:t>Handler</a:t>
            </a:r>
          </a:p>
          <a:p>
            <a:pPr algn="ctr"/>
            <a:r>
              <a:rPr lang="en-US" sz="1200" b="1" noProof="1">
                <a:solidFill>
                  <a:srgbClr val="000000"/>
                </a:solidFill>
                <a:latin typeface="Arial"/>
              </a:rPr>
              <a:t>перевірки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486400" y="1856231"/>
            <a:ext cx="1103376" cy="9601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en-US" sz="1200" b="1" noProof="1">
                <a:solidFill>
                  <a:srgbClr val="000000"/>
                </a:solidFill>
                <a:latin typeface="Arial"/>
              </a:rPr>
              <a:t>DbContext</a:t>
            </a:r>
          </a:p>
          <a:p>
            <a:pPr algn="ctr"/>
            <a:r>
              <a:rPr lang="en-US" sz="1200" b="1" noProof="1">
                <a:solidFill>
                  <a:srgbClr val="000000"/>
                </a:solidFill>
                <a:latin typeface="Arial"/>
              </a:rPr>
              <a:t>збереження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040880" y="1856231"/>
            <a:ext cx="1280160" cy="9601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en-US" sz="1200" b="1" noProof="1">
                <a:solidFill>
                  <a:srgbClr val="000000"/>
                </a:solidFill>
                <a:latin typeface="Arial"/>
              </a:rPr>
              <a:t>Notification</a:t>
            </a:r>
          </a:p>
          <a:p>
            <a:pPr algn="ctr"/>
            <a:r>
              <a:rPr lang="en-US" sz="1200" b="1" noProof="1">
                <a:solidFill>
                  <a:srgbClr val="000000"/>
                </a:solidFill>
                <a:latin typeface="Arial"/>
              </a:rPr>
              <a:t>роботодавцю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" y="3611880"/>
            <a:ext cx="7406640" cy="74789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lang="en-US" sz="1500" b="0" noProof="1">
                <a:solidFill>
                  <a:srgbClr val="464646"/>
                </a:solidFill>
                <a:latin typeface="Arial"/>
              </a:rPr>
              <a:t>Під час створення заявки сервер перевіряє користувача, резюме, вакансію та можли</a:t>
            </a:r>
            <a:r>
              <a:rPr lang="en-US" sz="1500" noProof="1">
                <a:solidFill>
                  <a:srgbClr val="464646"/>
                </a:solidFill>
                <a:latin typeface="Arial"/>
              </a:rPr>
              <a:t>ве </a:t>
            </a:r>
            <a:r>
              <a:rPr lang="en-US" sz="1500" b="0" noProof="1">
                <a:solidFill>
                  <a:srgbClr val="464646"/>
                </a:solidFill>
                <a:latin typeface="Arial"/>
              </a:rPr>
              <a:t>дублювання заявки. Після збереження створюється сповіщення роботодавцю.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29184" y="164592"/>
            <a:ext cx="8321040" cy="8686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noProof="1">
                <a:solidFill>
                  <a:srgbClr val="000000"/>
                </a:solidFill>
                <a:latin typeface="Arial"/>
              </a:rPr>
              <a:t>Приклад реалізації</a:t>
            </a:r>
            <a:endParaRPr lang="en-US" sz="32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2920" y="1078992"/>
            <a:ext cx="3890772" cy="329184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700" b="0" noProof="1">
                <a:solidFill>
                  <a:srgbClr val="000000"/>
                </a:solidFill>
                <a:latin typeface="Arial"/>
              </a:rPr>
              <a:t>перевірка ролі та поточного користувача перед виконанням дій</a:t>
            </a:r>
            <a:endParaRPr lang="en-US" sz="18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0" noProof="1">
                <a:solidFill>
                  <a:srgbClr val="000000"/>
                </a:solidFill>
                <a:latin typeface="Arial"/>
              </a:rPr>
              <a:t>заборона подання заявки з чужим резюме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0" noProof="1">
                <a:solidFill>
                  <a:srgbClr val="000000"/>
                </a:solidFill>
                <a:latin typeface="Arial"/>
              </a:rPr>
              <a:t>заборона повторного відгуку на одну вакансію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0" noProof="1">
                <a:solidFill>
                  <a:srgbClr val="000000"/>
                </a:solidFill>
                <a:latin typeface="Arial"/>
              </a:rPr>
              <a:t>створення сповіщення після важливої події</a:t>
            </a:r>
          </a:p>
        </p:txBody>
      </p:sp>
      <p:pic>
        <p:nvPicPr>
          <p:cNvPr id="72" name="Google Shape;122;p21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Box 1"/>
          <p:cNvSpPr/>
          <p:nvPr/>
        </p:nvSpPr>
        <p:spPr>
          <a:xfrm>
            <a:off x="8485632" y="4443984"/>
            <a:ext cx="411480" cy="2560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noProof="1">
                <a:solidFill>
                  <a:srgbClr val="000000"/>
                </a:solidFill>
                <a:latin typeface="Arial"/>
              </a:rPr>
              <a:t>9</a:t>
            </a:r>
            <a:endParaRPr lang="en-US" sz="14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4489704" y="1259586"/>
            <a:ext cx="4160520" cy="2729484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5" name="TextBox 74"/>
          <p:cNvSpPr txBox="1"/>
          <p:nvPr/>
        </p:nvSpPr>
        <p:spPr>
          <a:xfrm>
            <a:off x="4672584" y="1405890"/>
            <a:ext cx="3794760" cy="21488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en-US" sz="1400" b="0" noProof="1">
                <a:solidFill>
                  <a:srgbClr val="282828"/>
                </a:solidFill>
                <a:latin typeface="Consolas"/>
              </a:rPr>
              <a:t>if (alreadyApplied)</a:t>
            </a:r>
          </a:p>
          <a:p>
            <a:r>
              <a:rPr lang="en-US" sz="1400" b="0" noProof="1">
                <a:solidFill>
                  <a:srgbClr val="282828"/>
                </a:solidFill>
                <a:latin typeface="Consolas"/>
              </a:rPr>
              <a:t>    throw new InvalidOperationException(</a:t>
            </a:r>
          </a:p>
          <a:p>
            <a:r>
              <a:rPr lang="en-US" sz="1400" b="0" noProof="1">
                <a:solidFill>
                  <a:srgbClr val="282828"/>
                </a:solidFill>
                <a:latin typeface="Consolas"/>
              </a:rPr>
              <a:t>        "You have already applied");</a:t>
            </a:r>
          </a:p>
          <a:p>
            <a:endParaRPr lang="en-US" sz="1400" b="0" noProof="1">
              <a:solidFill>
                <a:srgbClr val="282828"/>
              </a:solidFill>
              <a:latin typeface="Consolas"/>
            </a:endParaRPr>
          </a:p>
          <a:p>
            <a:r>
              <a:rPr lang="en-US" sz="1400" b="0" noProof="1">
                <a:solidFill>
                  <a:srgbClr val="282828"/>
                </a:solidFill>
                <a:latin typeface="Consolas"/>
              </a:rPr>
              <a:t>await _notificationService.CreateAsync(</a:t>
            </a:r>
          </a:p>
          <a:p>
            <a:r>
              <a:rPr lang="en-US" sz="1400" b="0" noProof="1">
                <a:solidFill>
                  <a:srgbClr val="282828"/>
                </a:solidFill>
                <a:latin typeface="Consolas"/>
              </a:rPr>
              <a:t>    employerId, NotificationType.NewApplication,</a:t>
            </a:r>
          </a:p>
          <a:p>
            <a:r>
              <a:rPr lang="en-US" sz="1400" b="0" noProof="1">
                <a:solidFill>
                  <a:srgbClr val="282828"/>
                </a:solidFill>
                <a:latin typeface="Consolas"/>
              </a:rPr>
              <a:t>    "Нова заявка", text, cancellationToken);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58284" y="3989070"/>
            <a:ext cx="402336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lang="en-US" sz="1000" b="0" noProof="1">
                <a:solidFill>
                  <a:srgbClr val="464646"/>
                </a:solidFill>
                <a:latin typeface="Arial"/>
              </a:rPr>
              <a:t>Фрагмент логіки створення заявки та сповіщення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29184" y="164592"/>
            <a:ext cx="8321040" cy="8686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noProof="1">
                <a:solidFill>
                  <a:srgbClr val="000000"/>
                </a:solidFill>
                <a:latin typeface="Arial"/>
              </a:rPr>
              <a:t>Перевірка API</a:t>
            </a:r>
            <a:endParaRPr lang="en-US" sz="32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594360" y="1143000"/>
            <a:ext cx="7498079" cy="310896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15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noProof="1">
                <a:solidFill>
                  <a:srgbClr val="000000"/>
                </a:solidFill>
                <a:latin typeface="Arial"/>
              </a:rPr>
              <a:t>серверна частина перевірялась через Swagger та Postman</a:t>
            </a:r>
            <a:endParaRPr lang="en-US" sz="18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noProof="1">
                <a:solidFill>
                  <a:srgbClr val="000000"/>
                </a:solidFill>
                <a:latin typeface="Arial"/>
              </a:rPr>
              <a:t>для захищених endpoint-ів використовувався JWT access token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noProof="1">
                <a:solidFill>
                  <a:srgbClr val="000000"/>
                </a:solidFill>
                <a:latin typeface="Arial"/>
              </a:rPr>
              <a:t>файли зберігаються у Supabase Storage, а в БД - посилання на них</a:t>
            </a:r>
          </a:p>
        </p:txBody>
      </p:sp>
      <p:pic>
        <p:nvPicPr>
          <p:cNvPr id="76" name="Google Shape;129;p22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Box 1"/>
          <p:cNvSpPr/>
          <p:nvPr/>
        </p:nvSpPr>
        <p:spPr>
          <a:xfrm>
            <a:off x="8485632" y="4443984"/>
            <a:ext cx="411480" cy="2560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noProof="1">
                <a:solidFill>
                  <a:srgbClr val="000000"/>
                </a:solidFill>
                <a:latin typeface="Arial"/>
              </a:rPr>
              <a:t>10</a:t>
            </a:r>
            <a:endParaRPr lang="en-US" sz="14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29184" y="164592"/>
            <a:ext cx="8321040" cy="8686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noProof="1">
                <a:solidFill>
                  <a:srgbClr val="000000"/>
                </a:solidFill>
                <a:latin typeface="Arial"/>
              </a:rPr>
              <a:t>Тестування</a:t>
            </a:r>
            <a:endParaRPr lang="en-US" sz="32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Google Shape;129;p22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Box 1"/>
          <p:cNvSpPr/>
          <p:nvPr/>
        </p:nvSpPr>
        <p:spPr>
          <a:xfrm>
            <a:off x="8485632" y="4443984"/>
            <a:ext cx="411480" cy="2560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noProof="1">
                <a:solidFill>
                  <a:srgbClr val="000000"/>
                </a:solidFill>
                <a:latin typeface="Arial"/>
              </a:rPr>
              <a:t>11</a:t>
            </a:r>
            <a:endParaRPr lang="en-US" sz="14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2" name="Table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124740"/>
              </p:ext>
            </p:extLst>
          </p:nvPr>
        </p:nvGraphicFramePr>
        <p:xfrm>
          <a:off x="502920" y="1143000"/>
          <a:ext cx="81381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lang="en-US" sz="1200" b="1" noProof="1">
                          <a:solidFill>
                            <a:schemeClr val="bg1"/>
                          </a:solidFill>
                          <a:latin typeface="Arial"/>
                        </a:rPr>
                        <a:t>Сценарій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noProof="1">
                          <a:solidFill>
                            <a:schemeClr val="bg1"/>
                          </a:solidFill>
                          <a:latin typeface="Arial"/>
                        </a:rPr>
                        <a:t>Передумова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noProof="1">
                          <a:solidFill>
                            <a:schemeClr val="bg1"/>
                          </a:solidFill>
                          <a:latin typeface="Arial"/>
                        </a:rPr>
                        <a:t>Очікувано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noProof="1">
                          <a:solidFill>
                            <a:schemeClr val="bg1"/>
                          </a:solidFill>
                          <a:latin typeface="Arial"/>
                        </a:rPr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lang="en-US" sz="1100" noProof="1">
                          <a:solidFill>
                            <a:srgbClr val="000000"/>
                          </a:solidFill>
                          <a:latin typeface="Arial"/>
                        </a:rPr>
                        <a:t>Авторизація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1">
                          <a:solidFill>
                            <a:srgbClr val="000000"/>
                          </a:solidFill>
                          <a:latin typeface="Arial"/>
                        </a:rPr>
                        <a:t>коректні дані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1">
                          <a:solidFill>
                            <a:srgbClr val="000000"/>
                          </a:solidFill>
                          <a:latin typeface="Arial"/>
                        </a:rPr>
                        <a:t>access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1">
                          <a:solidFill>
                            <a:srgbClr val="000000"/>
                          </a:solidFill>
                          <a:latin typeface="Arial"/>
                        </a:rPr>
                        <a:t>успішно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lang="en-US" sz="1100" noProof="1">
                          <a:solidFill>
                            <a:srgbClr val="000000"/>
                          </a:solidFill>
                          <a:latin typeface="Arial"/>
                        </a:rPr>
                        <a:t>Доступ без токена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1">
                          <a:solidFill>
                            <a:srgbClr val="000000"/>
                          </a:solidFill>
                          <a:latin typeface="Arial"/>
                        </a:rPr>
                        <a:t>токен відсутній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1">
                          <a:solidFill>
                            <a:srgbClr val="000000"/>
                          </a:solidFill>
                          <a:latin typeface="Arial"/>
                        </a:rPr>
                        <a:t>помилка доступу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1">
                          <a:solidFill>
                            <a:srgbClr val="000000"/>
                          </a:solidFill>
                          <a:latin typeface="Arial"/>
                        </a:rPr>
                        <a:t>успішно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lang="en-US" sz="1100" noProof="1">
                          <a:solidFill>
                            <a:srgbClr val="000000"/>
                          </a:solidFill>
                          <a:latin typeface="Arial"/>
                        </a:rPr>
                        <a:t>Подання заявки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1">
                          <a:solidFill>
                            <a:srgbClr val="000000"/>
                          </a:solidFill>
                          <a:latin typeface="Arial"/>
                        </a:rPr>
                        <a:t>резюме + вакансія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1">
                          <a:solidFill>
                            <a:srgbClr val="000000"/>
                          </a:solidFill>
                          <a:latin typeface="Arial"/>
                        </a:rPr>
                        <a:t>заявка Submitted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1">
                          <a:solidFill>
                            <a:srgbClr val="000000"/>
                          </a:solidFill>
                          <a:latin typeface="Arial"/>
                        </a:rPr>
                        <a:t>успішно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lang="en-US" sz="1100" noProof="1">
                          <a:solidFill>
                            <a:srgbClr val="000000"/>
                          </a:solidFill>
                          <a:latin typeface="Arial"/>
                        </a:rPr>
                        <a:t>Повторна заявка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1">
                          <a:solidFill>
                            <a:srgbClr val="000000"/>
                          </a:solidFill>
                          <a:latin typeface="Arial"/>
                        </a:rPr>
                        <a:t>заявка вже існує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1">
                          <a:solidFill>
                            <a:srgbClr val="000000"/>
                          </a:solidFill>
                          <a:latin typeface="Arial"/>
                        </a:rPr>
                        <a:t>помилка валідації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1">
                          <a:solidFill>
                            <a:srgbClr val="000000"/>
                          </a:solidFill>
                          <a:latin typeface="Arial"/>
                        </a:rPr>
                        <a:t>успішно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3" name="TextBox 82"/>
          <p:cNvSpPr txBox="1"/>
          <p:nvPr/>
        </p:nvSpPr>
        <p:spPr>
          <a:xfrm>
            <a:off x="594360" y="4251960"/>
            <a:ext cx="786384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lang="en-US" sz="1200" b="0" noProof="1">
                <a:solidFill>
                  <a:srgbClr val="464646"/>
                </a:solidFill>
                <a:latin typeface="Arial"/>
              </a:rPr>
              <a:t>Перевірялись позитивні та негативні сценарії для </a:t>
            </a:r>
            <a:r>
              <a:rPr lang="uk-UA" sz="1200" b="0" noProof="1">
                <a:solidFill>
                  <a:srgbClr val="464646"/>
                </a:solidFill>
                <a:latin typeface="Arial"/>
              </a:rPr>
              <a:t>ендпоінтів</a:t>
            </a:r>
            <a:endParaRPr lang="en-US" sz="1200" b="0" noProof="1">
              <a:solidFill>
                <a:srgbClr val="46464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29184" y="164592"/>
            <a:ext cx="8321040" cy="8686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noProof="1">
                <a:solidFill>
                  <a:srgbClr val="000000"/>
                </a:solidFill>
                <a:latin typeface="Arial"/>
              </a:rPr>
              <a:t>Матеріали проєкту</a:t>
            </a:r>
            <a:endParaRPr lang="en-US" sz="32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594360" y="1143000"/>
            <a:ext cx="7498079" cy="310896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noProof="1">
                <a:solidFill>
                  <a:srgbClr val="000000"/>
                </a:solidFill>
                <a:latin typeface="Arial"/>
              </a:rPr>
              <a:t>код серверної частини збережено в GitHub-репозиторії</a:t>
            </a:r>
            <a:endParaRPr lang="en-US" sz="18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noProof="1">
                <a:solidFill>
                  <a:srgbClr val="000000"/>
                </a:solidFill>
                <a:latin typeface="Arial"/>
              </a:rPr>
              <a:t>підготовлено специфікацію вимог до програмного забезпечення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noProof="1">
                <a:solidFill>
                  <a:srgbClr val="000000"/>
                </a:solidFill>
                <a:latin typeface="Arial"/>
              </a:rPr>
              <a:t>API перевірено через Swagger/Postman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noProof="1">
                <a:solidFill>
                  <a:srgbClr val="000000"/>
                </a:solidFill>
                <a:latin typeface="Arial"/>
              </a:rPr>
              <a:t>структура проєкту дозволяє продовжити розробку клієнтської частини</a:t>
            </a:r>
          </a:p>
        </p:txBody>
      </p:sp>
      <p:pic>
        <p:nvPicPr>
          <p:cNvPr id="84" name="Google Shape;136;p23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1"/>
          <p:cNvSpPr/>
          <p:nvPr/>
        </p:nvSpPr>
        <p:spPr>
          <a:xfrm>
            <a:off x="8485632" y="4443984"/>
            <a:ext cx="411480" cy="2560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noProof="1">
                <a:solidFill>
                  <a:srgbClr val="000000"/>
                </a:solidFill>
                <a:latin typeface="Arial"/>
              </a:rPr>
              <a:t>12</a:t>
            </a:r>
            <a:endParaRPr lang="en-US" sz="14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94360" y="4069080"/>
            <a:ext cx="74066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en-US" sz="1100" b="0" noProof="1">
                <a:solidFill>
                  <a:srgbClr val="464646"/>
                </a:solidFill>
                <a:latin typeface="Arial"/>
              </a:rPr>
              <a:t>GitHub: NureParkhomenkoOleksandr/2026_B_KKP_PZPI-23-9_Parkhomenko_O_A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29184" y="164592"/>
            <a:ext cx="8321040" cy="86868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00" b="0" noProof="1">
                <a:solidFill>
                  <a:srgbClr val="000000"/>
                </a:solidFill>
                <a:latin typeface="Arial"/>
              </a:rPr>
              <a:t>Підсумки</a:t>
            </a:r>
            <a:endParaRPr lang="en-US" sz="32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594360" y="1143000"/>
            <a:ext cx="7589520" cy="324612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27432" rIns="45720" bIns="27432" anchor="t">
            <a:normAutofit fontScale="92500"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100" b="0" noProof="1">
                <a:solidFill>
                  <a:srgbClr val="000000"/>
                </a:solidFill>
                <a:latin typeface="Arial"/>
              </a:rPr>
              <a:t>розроблено працездатну серверну частину системи HiredIn</a:t>
            </a:r>
            <a:endParaRPr lang="en-US" sz="18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0" noProof="1">
                <a:solidFill>
                  <a:srgbClr val="000000"/>
                </a:solidFill>
                <a:latin typeface="Arial"/>
              </a:rPr>
              <a:t>реалізовано основні сценарії для кандидата, роботодавця та адміністратора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0" noProof="1">
                <a:solidFill>
                  <a:srgbClr val="000000"/>
                </a:solidFill>
                <a:latin typeface="Arial"/>
              </a:rPr>
              <a:t>додано чат, сповіщення, рекомендації вакансій та AI-функції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0" noProof="1">
                <a:solidFill>
                  <a:srgbClr val="000000"/>
                </a:solidFill>
                <a:latin typeface="Arial"/>
              </a:rPr>
              <a:t>проєкт можна розширити email/push-сповіщеннями та складнішою аналітикою</a:t>
            </a:r>
          </a:p>
        </p:txBody>
      </p:sp>
      <p:pic>
        <p:nvPicPr>
          <p:cNvPr id="88" name="Google Shape;143;p24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Box 1"/>
          <p:cNvSpPr/>
          <p:nvPr/>
        </p:nvSpPr>
        <p:spPr>
          <a:xfrm>
            <a:off x="8485632" y="4443984"/>
            <a:ext cx="411480" cy="2560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noProof="1">
                <a:solidFill>
                  <a:srgbClr val="000000"/>
                </a:solidFill>
                <a:latin typeface="Arial"/>
              </a:rPr>
              <a:t>13</a:t>
            </a:r>
            <a:endParaRPr lang="en-US" sz="1400" b="0" u="none" strike="noStrike" noProof="1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Words>552</Words>
  <Application>Microsoft Office PowerPoint</Application>
  <PresentationFormat>Экран (16:9)</PresentationFormat>
  <Paragraphs>113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2" baseType="lpstr">
      <vt:lpstr>Aptos</vt:lpstr>
      <vt:lpstr>Arial</vt:lpstr>
      <vt:lpstr>Consolas</vt:lpstr>
      <vt:lpstr>Economica</vt:lpstr>
      <vt:lpstr>Open Sans</vt:lpstr>
      <vt:lpstr>Symbol</vt:lpstr>
      <vt:lpstr>Times New Roman</vt:lpstr>
      <vt:lpstr>Wingdings</vt:lpstr>
      <vt:lpstr>Шаблон презентації кваліфікаційної роботи магістрів</vt:lpstr>
      <vt:lpstr>Програмна система для розміщення вакансій та пошуку роботи. Backend</vt:lpstr>
      <vt:lpstr>Мета роботи</vt:lpstr>
      <vt:lpstr>Аналіз проблеми та існуючих рішень</vt:lpstr>
      <vt:lpstr>Постановка задачі та опис системи</vt:lpstr>
      <vt:lpstr>Вибір технологій розробки</vt:lpstr>
      <vt:lpstr>Архітектура створеного програмного забезпечення</vt:lpstr>
      <vt:lpstr>Структура даних та основні сутності</vt:lpstr>
      <vt:lpstr>Сценарій подання заявки</vt:lpstr>
      <vt:lpstr>Приклад реалізації</vt:lpstr>
      <vt:lpstr>Перевірка API</vt:lpstr>
      <vt:lpstr>Тестування</vt:lpstr>
      <vt:lpstr>Матеріали проєкту</vt:lpstr>
      <vt:lpstr>Підсумки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Oleksandr Parkhomenko</dc:creator>
  <cp:lastModifiedBy>Олександр Пархоменко</cp:lastModifiedBy>
  <cp:revision>2</cp:revision>
  <dcterms:modified xsi:type="dcterms:W3CDTF">2026-06-07T17:06:25Z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2024-10-03T11:39:34Z</dcterms:created>
  <dc:creator>Lexin</dc:creator>
  <dc:description/>
  <dc:language>en-US</dc:language>
  <cp:lastModifiedBy>Lexin</cp:lastModifiedBy>
  <dcterms:modified xsi:type="dcterms:W3CDTF">2024-10-03T11:55:51Z</dcterms:modified>
  <cp:revision>3</cp:revision>
  <dc:subject/>
  <dc:title>Тема роботи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Экран (16:9)</vt:lpwstr>
  </property>
  <property fmtid="{D5CDD505-2E9C-101B-9397-08002B2CF9AE}" pid="4" name="Slides">
    <vt:r8>13</vt:r8>
  </property>
</Properties>
</file>